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2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9340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943600" y="457200"/>
            <a:ext cx="292608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5544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MediSync</a:t>
            </a:r>
            <a:endParaRPr lang="en-US" sz="5800" dirty="0"/>
          </a:p>
        </p:txBody>
      </p:sp>
      <p:sp>
        <p:nvSpPr>
          <p:cNvPr id="7" name="Shape 4"/>
          <p:cNvSpPr/>
          <p:nvPr/>
        </p:nvSpPr>
        <p:spPr>
          <a:xfrm>
            <a:off x="4251960" y="242316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606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Универсален здравен асистент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57200" y="3246120"/>
            <a:ext cx="4572000" cy="0"/>
          </a:xfrm>
          <a:prstGeom prst="line">
            <a:avLst/>
          </a:prstGeom>
          <a:noFill/>
          <a:ln w="12700">
            <a:solidFill>
              <a:srgbClr val="3A6B7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3832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A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Анелия Кандиларова  ·  Надя Йотова  ·  Ралица Танева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AA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Специалност: Софтуерно инженерство, III курс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Какво е MediSync?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5029200" cy="3383280"/>
          </a:xfrm>
          <a:prstGeom prst="rect">
            <a:avLst/>
          </a:prstGeom>
          <a:solidFill>
            <a:srgbClr val="F0F7F9"/>
          </a:solidFill>
          <a:ln w="12700">
            <a:solidFill>
              <a:srgbClr val="D0E8EE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30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143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на проекта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150876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MediSync е комплексно </a:t>
            </a:r>
            <a:r>
              <a:rPr lang="en-US" sz="1300" dirty="0" err="1">
                <a:solidFill>
                  <a:srgbClr val="3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софтуерно</a:t>
            </a:r>
            <a:r>
              <a:rPr lang="en-US" sz="1300" dirty="0">
                <a:solidFill>
                  <a:srgbClr val="3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bg-BG" sz="1300" dirty="0">
                <a:solidFill>
                  <a:srgbClr val="3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хардуерно </a:t>
            </a:r>
            <a:r>
              <a:rPr lang="en-US" sz="1300" dirty="0" err="1">
                <a:solidFill>
                  <a:srgbClr val="3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r>
              <a:rPr lang="en-US" sz="1300" dirty="0">
                <a:solidFill>
                  <a:srgbClr val="3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което автоматизира и персонализира здравната грижа в домашна среда.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Проектът действа като мост между пациента, неговите близки и лекуващите лекари.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Системата включва мултимодално взаимодействие — гласово управление, смарт устройства и хаптична обратна връзка.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577840" y="1005840"/>
            <a:ext cx="3246120" cy="1005840"/>
          </a:xfrm>
          <a:prstGeom prst="rect">
            <a:avLst/>
          </a:prstGeom>
          <a:solidFill>
            <a:srgbClr val="F0F7F9"/>
          </a:solidFill>
          <a:ln w="12700">
            <a:solidFill>
              <a:srgbClr val="D0E8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577840" y="1005840"/>
            <a:ext cx="7315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2801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17920" y="11430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Мобилно приложение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217920" y="14218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&amp; Android платформи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577840" y="2191333"/>
            <a:ext cx="3246120" cy="1005840"/>
          </a:xfrm>
          <a:prstGeom prst="rect">
            <a:avLst/>
          </a:prstGeom>
          <a:solidFill>
            <a:srgbClr val="F0F7F9"/>
          </a:solidFill>
          <a:ln w="12700">
            <a:solidFill>
              <a:srgbClr val="D0E8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577840" y="2194560"/>
            <a:ext cx="7315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246888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40780" y="23236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Смарт гривна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240780" y="2643423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Безжична синхронизация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577840" y="3383280"/>
            <a:ext cx="3246120" cy="1005840"/>
          </a:xfrm>
          <a:prstGeom prst="rect">
            <a:avLst/>
          </a:prstGeom>
          <a:solidFill>
            <a:srgbClr val="F0F7F9"/>
          </a:solidFill>
          <a:ln w="12700">
            <a:solidFill>
              <a:srgbClr val="D0E8EE"/>
            </a:solidFill>
            <a:prstDash val="solid"/>
          </a:ln>
        </p:spPr>
        <p:txBody>
          <a:bodyPr/>
          <a:lstStyle/>
          <a:p>
            <a:endParaRPr lang="bg-BG" dirty="0"/>
          </a:p>
        </p:txBody>
      </p:sp>
      <p:sp>
        <p:nvSpPr>
          <p:cNvPr id="19" name="Shape 14"/>
          <p:cNvSpPr/>
          <p:nvPr/>
        </p:nvSpPr>
        <p:spPr>
          <a:xfrm>
            <a:off x="5577840" y="3383280"/>
            <a:ext cx="7315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365760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17920" y="3520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Лекарски панел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217920" y="3840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Дистанционен мониторинг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Основни задачи и целеви групи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Основни задачи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536192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51790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Елиминиране на грешки при приема на медикаменти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157984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13969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0848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Автоматизирани напомняния и потвърждения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779776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7614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270662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Ранно засичане на здравни отклонения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401568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38328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32841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Оптимизиране на комуникацията лекар–пациент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4023360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00507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39502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Подобряване на достъпността за уязвими групи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914400"/>
            <a:ext cx="0" cy="4023360"/>
          </a:xfrm>
          <a:prstGeom prst="line">
            <a:avLst/>
          </a:prstGeom>
          <a:noFill/>
          <a:ln w="19050">
            <a:solidFill>
              <a:srgbClr val="D0E8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Целеви групи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46320" y="1463040"/>
            <a:ext cx="502920" cy="502920"/>
          </a:xfrm>
          <a:prstGeom prst="ellipse">
            <a:avLst/>
          </a:prstGeom>
          <a:solidFill>
            <a:srgbClr val="E8F4F6"/>
          </a:solidFill>
          <a:ln w="12700">
            <a:solidFill>
              <a:srgbClr val="D0E8EE"/>
            </a:solidFill>
            <a:prstDash val="solid"/>
          </a:ln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536192"/>
            <a:ext cx="347472" cy="34747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486400" y="1463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Пациенти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486400" y="1719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Хора с хронични заболявания и сложни терапии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846320" y="2313432"/>
            <a:ext cx="502920" cy="502920"/>
          </a:xfrm>
          <a:prstGeom prst="ellipse">
            <a:avLst/>
          </a:prstGeom>
          <a:solidFill>
            <a:srgbClr val="E8F4F6"/>
          </a:solidFill>
          <a:ln w="12700">
            <a:solidFill>
              <a:srgbClr val="D0E8EE"/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386584"/>
            <a:ext cx="347472" cy="34747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486400" y="23134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Семейства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5486400" y="25694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Роднини и настойници на болни близки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846320" y="3163824"/>
            <a:ext cx="502920" cy="502920"/>
          </a:xfrm>
          <a:prstGeom prst="ellipse">
            <a:avLst/>
          </a:prstGeom>
          <a:solidFill>
            <a:srgbClr val="E8F4F6"/>
          </a:solidFill>
          <a:ln w="12700">
            <a:solidFill>
              <a:srgbClr val="D0E8EE"/>
            </a:solidFill>
            <a:prstDash val="solid"/>
          </a:ln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3236976"/>
            <a:ext cx="347472" cy="34747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486400" y="31638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Лекари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5486400" y="34198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Медицински специалисти за дистанционен контрол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4846320" y="4014216"/>
            <a:ext cx="502920" cy="502920"/>
          </a:xfrm>
          <a:prstGeom prst="ellipse">
            <a:avLst/>
          </a:prstGeom>
          <a:solidFill>
            <a:srgbClr val="E8F4F6"/>
          </a:solidFill>
          <a:ln w="12700">
            <a:solidFill>
              <a:srgbClr val="D0E8EE"/>
            </a:solidFill>
            <a:prstDash val="solid"/>
          </a:ln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4087368"/>
            <a:ext cx="347472" cy="34747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486400" y="40142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Уязвими групи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5486400" y="4270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Възрастни и хора с когнитивни затруднения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Предимства на MediSync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2743200" cy="1645920"/>
          </a:xfrm>
          <a:prstGeom prst="rect">
            <a:avLst/>
          </a:prstGeom>
          <a:solidFill>
            <a:srgbClr val="122840"/>
          </a:solidFill>
          <a:ln w="12700">
            <a:solidFill>
              <a:srgbClr val="1E4060"/>
            </a:solidFill>
            <a:prstDash val="solid"/>
          </a:ln>
        </p:spPr>
        <p:txBody>
          <a:bodyPr/>
          <a:lstStyle/>
          <a:p>
            <a:endParaRPr lang="bg-BG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188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1672989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Автоматична проверка за опасни лекарствени взаимодействия и елиминиране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на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грешки</a:t>
            </a:r>
            <a:endParaRPr lang="en-US" sz="1100" dirty="0">
              <a:solidFill>
                <a:schemeClr val="bg1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246120" y="1005840"/>
            <a:ext cx="2743200" cy="1645920"/>
          </a:xfrm>
          <a:prstGeom prst="rect">
            <a:avLst/>
          </a:prstGeom>
          <a:solidFill>
            <a:srgbClr val="122840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46120" y="1005840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1887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31920" y="1188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Достъпност</a:t>
            </a:r>
            <a:endParaRPr lang="en-US" sz="1600" b="1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3383280" y="16916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Специализиран интерфейс с висок контраст, гласово управление и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големи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елементи</a:t>
            </a:r>
            <a:endParaRPr lang="en-US" sz="1100" dirty="0">
              <a:solidFill>
                <a:schemeClr val="bg1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6172200" y="1005840"/>
            <a:ext cx="2743200" cy="1645920"/>
          </a:xfrm>
          <a:prstGeom prst="rect">
            <a:avLst/>
          </a:prstGeom>
          <a:solidFill>
            <a:srgbClr val="122840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72200" y="1005840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18872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58000" y="1188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Умни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известия</a:t>
            </a:r>
            <a:endParaRPr lang="en-US" sz="1600" b="1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6309360" y="16916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Push и хаптични напомняния в реално време, включително SOS аларми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при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спешни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случаи</a:t>
            </a:r>
            <a:endParaRPr lang="en-US" sz="1100" dirty="0">
              <a:solidFill>
                <a:schemeClr val="bg1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320040" y="2944368"/>
            <a:ext cx="2743200" cy="1581912"/>
          </a:xfrm>
          <a:prstGeom prst="rect">
            <a:avLst/>
          </a:prstGeom>
          <a:solidFill>
            <a:srgbClr val="122840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20040" y="2880360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06324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05840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PDF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доклади</a:t>
            </a:r>
            <a:endParaRPr lang="en-US" sz="1600" b="1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457200" y="35433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Автоматично генерирани седмични доклади с графики за лекари и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близки</a:t>
            </a:r>
            <a:endParaRPr lang="en-US" sz="1100" dirty="0">
              <a:solidFill>
                <a:schemeClr val="bg1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3246120" y="2880360"/>
            <a:ext cx="2743200" cy="1645920"/>
          </a:xfrm>
          <a:prstGeom prst="rect">
            <a:avLst/>
          </a:prstGeom>
          <a:solidFill>
            <a:srgbClr val="122840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246120" y="2880360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063240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931920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Синхронизация</a:t>
            </a:r>
            <a:endParaRPr lang="en-US" sz="1600" b="1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3383280" y="356616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Автоматично извличане на жизнени показатели от смарт гривна в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реално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време</a:t>
            </a:r>
            <a:endParaRPr lang="en-US" sz="1100" dirty="0">
              <a:solidFill>
                <a:schemeClr val="bg1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8" name="Shape 21"/>
          <p:cNvSpPr/>
          <p:nvPr/>
        </p:nvSpPr>
        <p:spPr>
          <a:xfrm>
            <a:off x="6172200" y="2880360"/>
            <a:ext cx="2743200" cy="1645920"/>
          </a:xfrm>
          <a:prstGeom prst="rect">
            <a:avLst/>
          </a:prstGeom>
          <a:solidFill>
            <a:srgbClr val="122840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172200" y="2880360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063240"/>
            <a:ext cx="411480" cy="4114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858000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Лесна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употреба</a:t>
            </a:r>
            <a:endParaRPr lang="en-US" sz="1600" b="1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6309360" y="356616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Гласово потвърждение, сканиране на опаковки и интуитивен дизайн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за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всеки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потребител</a:t>
            </a:r>
            <a:endParaRPr lang="en-US" sz="1100" dirty="0">
              <a:solidFill>
                <a:schemeClr val="bg1"/>
              </a:solidFill>
              <a:latin typeface="Calibri" pitchFamily="34" charset="0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Основни функционалности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737360"/>
          </a:xfrm>
          <a:prstGeom prst="rect">
            <a:avLst/>
          </a:prstGeom>
          <a:solidFill>
            <a:srgbClr val="F0F7F9"/>
          </a:solidFill>
          <a:ln w="12700">
            <a:solidFill>
              <a:srgbClr val="C8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51560"/>
            <a:ext cx="685800" cy="274320"/>
          </a:xfrm>
          <a:prstGeom prst="roundRect">
            <a:avLst>
              <a:gd name="adj" fmla="val 2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UC 2.2</a:t>
            </a:r>
            <a:endParaRPr lang="en-US" sz="8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105156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463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на лекарства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19202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Дозировка, честота и конкретни часове на прием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54680" y="914400"/>
            <a:ext cx="2743200" cy="1737360"/>
          </a:xfrm>
          <a:prstGeom prst="rect">
            <a:avLst/>
          </a:prstGeom>
          <a:solidFill>
            <a:srgbClr val="F0F7F9"/>
          </a:solidFill>
          <a:ln w="12700">
            <a:solidFill>
              <a:srgbClr val="C8E0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91840" y="1051560"/>
            <a:ext cx="685800" cy="274320"/>
          </a:xfrm>
          <a:prstGeom prst="roundRect">
            <a:avLst>
              <a:gd name="adj" fmla="val 2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91840" y="10515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UC 2.3</a:t>
            </a:r>
            <a:endParaRPr lang="en-US" sz="8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105156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1463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Гласово потвърждение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291840" y="19202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Командата 'Прието' маркира дозата автоматично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0" y="914400"/>
            <a:ext cx="2743200" cy="1737360"/>
          </a:xfrm>
          <a:prstGeom prst="rect">
            <a:avLst/>
          </a:prstGeom>
          <a:solidFill>
            <a:srgbClr val="F0F7F9"/>
          </a:solidFill>
          <a:ln w="12700">
            <a:solidFill>
              <a:srgbClr val="C8E0E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72200" y="1051560"/>
            <a:ext cx="685800" cy="274320"/>
          </a:xfrm>
          <a:prstGeom prst="roundRect">
            <a:avLst>
              <a:gd name="adj" fmla="val 2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172200" y="10515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UC 2.7</a:t>
            </a:r>
            <a:endParaRPr lang="en-US" sz="8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051560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72200" y="1463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Сканиране на опаковка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172200" y="19202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разпознава текст и попълва автоматично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274320" y="2834640"/>
            <a:ext cx="2743200" cy="1737360"/>
          </a:xfrm>
          <a:prstGeom prst="rect">
            <a:avLst/>
          </a:prstGeom>
          <a:solidFill>
            <a:srgbClr val="F0F7F9"/>
          </a:solidFill>
          <a:ln w="12700">
            <a:solidFill>
              <a:srgbClr val="C8E0E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1480" y="2971800"/>
            <a:ext cx="685800" cy="274320"/>
          </a:xfrm>
          <a:prstGeom prst="roundRect">
            <a:avLst>
              <a:gd name="adj" fmla="val 2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11480" y="2971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UC 2.8</a:t>
            </a:r>
            <a:endParaRPr lang="en-US" sz="85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880" y="2971800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11480" y="33832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взаимодействия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11480" y="384048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Алгоритъм срещу фармацевтична БД за несъвместимости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154680" y="2834640"/>
            <a:ext cx="2743200" cy="1737360"/>
          </a:xfrm>
          <a:prstGeom prst="rect">
            <a:avLst/>
          </a:prstGeom>
          <a:solidFill>
            <a:srgbClr val="F0F7F9"/>
          </a:solidFill>
          <a:ln w="12700">
            <a:solidFill>
              <a:srgbClr val="C8E0E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3291840" y="2971800"/>
            <a:ext cx="685800" cy="274320"/>
          </a:xfrm>
          <a:prstGeom prst="roundRect">
            <a:avLst>
              <a:gd name="adj" fmla="val 2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3291840" y="2971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UC 2.4</a:t>
            </a:r>
            <a:endParaRPr lang="en-US" sz="85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9240" y="2971800"/>
            <a:ext cx="384048" cy="38404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291840" y="33832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Смарт гривна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3291840" y="384048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Пулс, сън и активност в реално време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035040" y="2834640"/>
            <a:ext cx="2743200" cy="1737360"/>
          </a:xfrm>
          <a:prstGeom prst="rect">
            <a:avLst/>
          </a:prstGeom>
          <a:solidFill>
            <a:srgbClr val="F0F7F9"/>
          </a:solidFill>
          <a:ln w="12700">
            <a:solidFill>
              <a:srgbClr val="C8E0E8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172200" y="2971800"/>
            <a:ext cx="685800" cy="274320"/>
          </a:xfrm>
          <a:prstGeom prst="roundRect">
            <a:avLst>
              <a:gd name="adj" fmla="val 2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6172200" y="2971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UC 2.10</a:t>
            </a:r>
            <a:endParaRPr lang="en-US" sz="85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2971800"/>
            <a:ext cx="384048" cy="38404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172200" y="33832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режим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6172200" y="384048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Автоматично набиране при критично отклонение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091A2A"/>
          </a:solidFill>
          <a:ln w="12700">
            <a:solidFill>
              <a:srgbClr val="0D2E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91A2A"/>
          </a:solidFill>
          <a:ln w="12700">
            <a:solidFill>
              <a:srgbClr val="0D2E4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3200400" y="54864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00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 на системата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2606040"/>
            <a:ext cx="4114800" cy="0"/>
          </a:xfrm>
          <a:prstGeom prst="line">
            <a:avLst/>
          </a:prstGeom>
          <a:noFill/>
          <a:ln w="12700">
            <a:solidFill>
              <a:srgbClr val="2A557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2834640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" y="2816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и избор на интерфейс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3236976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32186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Добавяне на лекарство чрез сканиране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639312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" y="362102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Гласово потвърждение на доза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4041648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8952" y="4023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Известие до доверен контакт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4443984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8952" y="44256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Преглед на лекарски панел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338</Words>
  <Application>Microsoft Office PowerPoint</Application>
  <PresentationFormat>On-screen Show (16:9)</PresentationFormat>
  <Paragraphs>83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MediSync - Универсален здравен асистент</dc:title>
  <dc:subject>PptxGenJS Presentation</dc:subject>
  <dc:creator>PptxGenJS</dc:creator>
  <cp:lastModifiedBy>Ralitsa Taneva</cp:lastModifiedBy>
  <cp:revision>2</cp:revision>
  <dcterms:created xsi:type="dcterms:W3CDTF">2026-06-02T11:20:54Z</dcterms:created>
  <dcterms:modified xsi:type="dcterms:W3CDTF">2026-06-02T11:52:14Z</dcterms:modified>
</cp:coreProperties>
</file>